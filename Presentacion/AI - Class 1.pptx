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3" r:id="rId1"/>
  </p:sldMasterIdLst>
  <p:sldIdLst>
    <p:sldId id="256" r:id="rId2"/>
    <p:sldId id="326" r:id="rId3"/>
    <p:sldId id="327" r:id="rId4"/>
    <p:sldId id="329" r:id="rId5"/>
    <p:sldId id="330" r:id="rId6"/>
    <p:sldId id="328" r:id="rId7"/>
    <p:sldId id="258" r:id="rId8"/>
    <p:sldId id="334" r:id="rId9"/>
    <p:sldId id="331" r:id="rId10"/>
    <p:sldId id="333" r:id="rId11"/>
    <p:sldId id="335" r:id="rId12"/>
    <p:sldId id="336" r:id="rId13"/>
    <p:sldId id="339" r:id="rId14"/>
    <p:sldId id="342" r:id="rId15"/>
    <p:sldId id="343" r:id="rId16"/>
    <p:sldId id="340" r:id="rId17"/>
    <p:sldId id="33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ng. Portillo" initials="IP" lastIdx="1" clrIdx="0">
    <p:extLst>
      <p:ext uri="{19B8F6BF-5375-455C-9EA6-DF929625EA0E}">
        <p15:presenceInfo xmlns:p15="http://schemas.microsoft.com/office/powerpoint/2012/main" userId="Ing. Portill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14" y="1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62EF3-3C4F-43EE-ACEE-D4B806740EA3}" type="datetimeFigureOut">
              <a:rPr lang="en-US" smtClean="0"/>
              <a:pPr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21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0EF2-9919-473B-8215-8616BAF10692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88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472EB-AC54-4713-BFC2-BEB621108C63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705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5A0C-791E-4545-B787-F98AD45CD761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547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36B77-F4F4-4427-AC4F-9A623798AD82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33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E790C-34EB-4565-8437-CACF4CDB7822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74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4C11-22B8-4A4E-8126-B3AF6B948A8E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332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06B6-C816-4861-964D-15A98395707D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829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1A8AB-EA7C-4B1B-9D73-E2551851FABE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2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43B39-165A-4B68-AA5C-581F5336313C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32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8C57-33F9-4259-AC4F-0E3F5BEC9B94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96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772B-8FA2-401F-A0A1-A59855EDBC3E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9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D5BDE-5A90-4611-82E9-0FC5746D30C5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69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DA17D-0BEA-4E76-A7FC-F7C188BC48D1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614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AC7D-18CA-4236-82B9-D75EB1D66EAE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535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8300E-C023-45CD-A0BE-EDB7A8C6EA8B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9165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20EAD-E369-4933-8469-ED7764B56A1B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13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786BE5-D2A3-4BF0-8B30-D7403E61B3DC}" type="datetimeFigureOut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920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A" sz="6600" dirty="0"/>
              <a:t>INTELIGENCIA ARTIFICIAL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RANGEL ALVARADO</a:t>
            </a:r>
          </a:p>
        </p:txBody>
      </p:sp>
    </p:spTree>
    <p:extLst>
      <p:ext uri="{BB962C8B-B14F-4D97-AF65-F5344CB8AC3E}">
        <p14:creationId xmlns:p14="http://schemas.microsoft.com/office/powerpoint/2010/main" val="1653120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Formato</a:t>
            </a:r>
            <a:r>
              <a:rPr lang="en-US" dirty="0"/>
              <a:t> del </a:t>
            </a:r>
            <a:r>
              <a:rPr lang="en-US" dirty="0" err="1"/>
              <a:t>Curso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 modulo a la </a:t>
            </a:r>
            <a:r>
              <a:rPr lang="en-US" dirty="0" err="1"/>
              <a:t>semana</a:t>
            </a:r>
            <a:r>
              <a:rPr lang="en-US" dirty="0"/>
              <a:t> que </a:t>
            </a:r>
            <a:r>
              <a:rPr lang="en-US" dirty="0" err="1"/>
              <a:t>consta</a:t>
            </a:r>
            <a:r>
              <a:rPr lang="en-US" dirty="0"/>
              <a:t> de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teorica</a:t>
            </a:r>
            <a:r>
              <a:rPr lang="en-US" dirty="0"/>
              <a:t> y </a:t>
            </a:r>
            <a:r>
              <a:rPr lang="en-US" dirty="0" err="1"/>
              <a:t>laboratorio</a:t>
            </a:r>
            <a:endParaRPr lang="en-US" dirty="0"/>
          </a:p>
          <a:p>
            <a:r>
              <a:rPr lang="en-US" dirty="0" err="1"/>
              <a:t>Clases</a:t>
            </a:r>
            <a:r>
              <a:rPr lang="en-US" dirty="0"/>
              <a:t> </a:t>
            </a:r>
            <a:r>
              <a:rPr lang="en-US" dirty="0" err="1"/>
              <a:t>presenciales</a:t>
            </a:r>
            <a:endParaRPr lang="en-US" dirty="0"/>
          </a:p>
          <a:p>
            <a:r>
              <a:rPr lang="en-US" dirty="0" err="1"/>
              <a:t>Aproximadamente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asignación</a:t>
            </a:r>
            <a:r>
              <a:rPr lang="en-US" dirty="0"/>
              <a:t> </a:t>
            </a:r>
            <a:r>
              <a:rPr lang="en-US" dirty="0" err="1"/>
              <a:t>semanales</a:t>
            </a:r>
            <a:r>
              <a:rPr lang="en-US" dirty="0"/>
              <a:t>, </a:t>
            </a:r>
            <a:r>
              <a:rPr lang="en-US" dirty="0" err="1"/>
              <a:t>todas</a:t>
            </a:r>
            <a:r>
              <a:rPr lang="en-US" dirty="0"/>
              <a:t> </a:t>
            </a:r>
            <a:r>
              <a:rPr lang="en-US"/>
              <a:t>individuales</a:t>
            </a:r>
            <a:endParaRPr lang="en-US" dirty="0"/>
          </a:p>
          <a:p>
            <a:pPr lvl="1"/>
            <a:r>
              <a:rPr lang="en-US" dirty="0" err="1"/>
              <a:t>Tareas</a:t>
            </a:r>
            <a:endParaRPr lang="en-US" dirty="0"/>
          </a:p>
          <a:p>
            <a:pPr lvl="1"/>
            <a:r>
              <a:rPr lang="en-US" dirty="0" err="1"/>
              <a:t>Laboratorios</a:t>
            </a:r>
            <a:endParaRPr lang="en-US" dirty="0"/>
          </a:p>
          <a:p>
            <a:pPr lvl="1"/>
            <a:r>
              <a:rPr lang="en-US" dirty="0"/>
              <a:t>Quizzes</a:t>
            </a:r>
          </a:p>
          <a:p>
            <a:pPr lvl="1"/>
            <a:r>
              <a:rPr lang="en-US" dirty="0"/>
              <a:t>Proyecto Final</a:t>
            </a:r>
          </a:p>
          <a:p>
            <a:pPr lvl="1"/>
            <a:r>
              <a:rPr lang="en-US" dirty="0"/>
              <a:t>O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anteriores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7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Reglas</a:t>
            </a:r>
            <a:r>
              <a:rPr lang="en-US" dirty="0"/>
              <a:t> del </a:t>
            </a:r>
            <a:r>
              <a:rPr lang="en-US" dirty="0" err="1"/>
              <a:t>Curso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01262"/>
            <a:ext cx="11088688" cy="5344237"/>
          </a:xfrm>
        </p:spPr>
        <p:txBody>
          <a:bodyPr>
            <a:normAutofit/>
          </a:bodyPr>
          <a:lstStyle/>
          <a:p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quizzes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plataforma</a:t>
            </a:r>
            <a:r>
              <a:rPr lang="en-US" dirty="0"/>
              <a:t> </a:t>
            </a:r>
            <a:r>
              <a:rPr lang="en-US" dirty="0" err="1"/>
              <a:t>moodle</a:t>
            </a:r>
            <a:endParaRPr lang="en-US" dirty="0"/>
          </a:p>
          <a:p>
            <a:pPr lvl="1"/>
            <a:r>
              <a:rPr lang="en-US" dirty="0"/>
              <a:t>Se </a:t>
            </a:r>
            <a:r>
              <a:rPr lang="en-US" dirty="0" err="1"/>
              <a:t>avisará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realizará</a:t>
            </a:r>
            <a:r>
              <a:rPr lang="en-US" dirty="0"/>
              <a:t> el quiz el </a:t>
            </a:r>
            <a:r>
              <a:rPr lang="en-US" dirty="0" err="1"/>
              <a:t>día</a:t>
            </a:r>
            <a:r>
              <a:rPr lang="en-US" dirty="0"/>
              <a:t> de </a:t>
            </a:r>
            <a:r>
              <a:rPr lang="en-US" dirty="0" err="1"/>
              <a:t>clases</a:t>
            </a:r>
            <a:r>
              <a:rPr lang="en-US" dirty="0"/>
              <a:t>.  Sin embargo </a:t>
            </a:r>
            <a:r>
              <a:rPr lang="en-US" dirty="0" err="1"/>
              <a:t>esto</a:t>
            </a:r>
            <a:r>
              <a:rPr lang="en-US" dirty="0"/>
              <a:t> no </a:t>
            </a:r>
            <a:r>
              <a:rPr lang="en-US" dirty="0" err="1"/>
              <a:t>significa</a:t>
            </a:r>
            <a:r>
              <a:rPr lang="en-US" dirty="0"/>
              <a:t> que no </a:t>
            </a:r>
            <a:r>
              <a:rPr lang="en-US" dirty="0" err="1"/>
              <a:t>deban</a:t>
            </a:r>
            <a:r>
              <a:rPr lang="en-US" dirty="0"/>
              <a:t> </a:t>
            </a:r>
            <a:r>
              <a:rPr lang="en-US" dirty="0" err="1"/>
              <a:t>revisar</a:t>
            </a:r>
            <a:r>
              <a:rPr lang="en-US" dirty="0"/>
              <a:t> la </a:t>
            </a:r>
            <a:r>
              <a:rPr lang="en-US" dirty="0" err="1"/>
              <a:t>plataforma</a:t>
            </a:r>
            <a:r>
              <a:rPr lang="en-US" dirty="0"/>
              <a:t> Moodle </a:t>
            </a:r>
            <a:r>
              <a:rPr lang="en-US" dirty="0" err="1"/>
              <a:t>siempre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Quiz no </a:t>
            </a:r>
            <a:r>
              <a:rPr lang="en-US" dirty="0" err="1"/>
              <a:t>realizado</a:t>
            </a:r>
            <a:r>
              <a:rPr lang="en-US" dirty="0"/>
              <a:t>  = 0</a:t>
            </a:r>
          </a:p>
          <a:p>
            <a:pPr lvl="1"/>
            <a:r>
              <a:rPr lang="en-US" dirty="0"/>
              <a:t>El quiz no se </a:t>
            </a:r>
            <a:r>
              <a:rPr lang="en-US" dirty="0" err="1"/>
              <a:t>repite</a:t>
            </a:r>
            <a:endParaRPr lang="en-US" dirty="0"/>
          </a:p>
          <a:p>
            <a:pPr lvl="1"/>
            <a:r>
              <a:rPr lang="en-US" dirty="0"/>
              <a:t>El quiz dura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semana</a:t>
            </a:r>
            <a:r>
              <a:rPr lang="en-US" dirty="0"/>
              <a:t>, 8 horas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inicio</a:t>
            </a:r>
            <a:endParaRPr lang="en-US" dirty="0"/>
          </a:p>
          <a:p>
            <a:r>
              <a:rPr lang="en-US" dirty="0" err="1"/>
              <a:t>Entregar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proyectos</a:t>
            </a:r>
            <a:r>
              <a:rPr lang="en-US" dirty="0"/>
              <a:t> el </a:t>
            </a:r>
            <a:r>
              <a:rPr lang="en-US" dirty="0" err="1"/>
              <a:t>días</a:t>
            </a:r>
            <a:r>
              <a:rPr lang="en-US" dirty="0"/>
              <a:t> de </a:t>
            </a:r>
            <a:r>
              <a:rPr lang="en-US" dirty="0" err="1"/>
              <a:t>entrega</a:t>
            </a:r>
            <a:endParaRPr lang="en-US" dirty="0"/>
          </a:p>
          <a:p>
            <a:pPr lvl="1"/>
            <a:r>
              <a:rPr lang="en-US" dirty="0"/>
              <a:t>1 </a:t>
            </a:r>
            <a:r>
              <a:rPr lang="en-US" dirty="0" err="1"/>
              <a:t>semana</a:t>
            </a:r>
            <a:r>
              <a:rPr lang="en-US" dirty="0"/>
              <a:t> </a:t>
            </a:r>
            <a:r>
              <a:rPr lang="en-US" dirty="0" err="1"/>
              <a:t>despues</a:t>
            </a:r>
            <a:r>
              <a:rPr lang="en-US" dirty="0"/>
              <a:t> = 25% </a:t>
            </a:r>
            <a:r>
              <a:rPr lang="en-US" dirty="0" err="1"/>
              <a:t>menos</a:t>
            </a:r>
            <a:endParaRPr lang="en-US" dirty="0"/>
          </a:p>
          <a:p>
            <a:pPr lvl="1"/>
            <a:r>
              <a:rPr lang="en-US" dirty="0" err="1"/>
              <a:t>Realizar</a:t>
            </a:r>
            <a:r>
              <a:rPr lang="en-US" dirty="0"/>
              <a:t> el </a:t>
            </a:r>
            <a:r>
              <a:rPr lang="en-US" dirty="0" err="1"/>
              <a:t>laboratorio</a:t>
            </a:r>
            <a:r>
              <a:rPr lang="en-US" dirty="0"/>
              <a:t> a </a:t>
            </a:r>
            <a:r>
              <a:rPr lang="en-US" dirty="0" err="1"/>
              <a:t>entregar</a:t>
            </a:r>
            <a:r>
              <a:rPr lang="en-US" dirty="0"/>
              <a:t> el </a:t>
            </a:r>
            <a:r>
              <a:rPr lang="en-US" dirty="0" err="1"/>
              <a:t>día</a:t>
            </a:r>
            <a:r>
              <a:rPr lang="en-US" dirty="0"/>
              <a:t> de </a:t>
            </a:r>
            <a:r>
              <a:rPr lang="en-US" dirty="0" err="1"/>
              <a:t>entrega</a:t>
            </a:r>
            <a:r>
              <a:rPr lang="en-US" dirty="0"/>
              <a:t> </a:t>
            </a:r>
            <a:r>
              <a:rPr lang="en-US" dirty="0" err="1"/>
              <a:t>equivale</a:t>
            </a:r>
            <a:r>
              <a:rPr lang="en-US" dirty="0"/>
              <a:t> a </a:t>
            </a:r>
            <a:r>
              <a:rPr lang="en-US" dirty="0" err="1"/>
              <a:t>entregar</a:t>
            </a:r>
            <a:r>
              <a:rPr lang="en-US" dirty="0"/>
              <a:t> 1 </a:t>
            </a:r>
            <a:r>
              <a:rPr lang="en-US" dirty="0" err="1"/>
              <a:t>semana</a:t>
            </a:r>
            <a:r>
              <a:rPr lang="en-US" dirty="0"/>
              <a:t> </a:t>
            </a:r>
            <a:r>
              <a:rPr lang="en-US" dirty="0" err="1"/>
              <a:t>después</a:t>
            </a:r>
            <a:endParaRPr lang="en-US" dirty="0"/>
          </a:p>
          <a:p>
            <a:pPr lvl="1"/>
            <a:r>
              <a:rPr lang="en-US" dirty="0" err="1"/>
              <a:t>Copia</a:t>
            </a:r>
            <a:r>
              <a:rPr lang="en-US" dirty="0"/>
              <a:t> de </a:t>
            </a:r>
            <a:r>
              <a:rPr lang="en-US" dirty="0" err="1"/>
              <a:t>proyectos</a:t>
            </a:r>
            <a:r>
              <a:rPr lang="en-US" dirty="0"/>
              <a:t> entre </a:t>
            </a:r>
            <a:r>
              <a:rPr lang="en-US" dirty="0" err="1"/>
              <a:t>compañeros</a:t>
            </a:r>
            <a:r>
              <a:rPr lang="en-US" dirty="0"/>
              <a:t> = 0</a:t>
            </a:r>
          </a:p>
          <a:p>
            <a:pPr lvl="1"/>
            <a:r>
              <a:rPr lang="en-US" dirty="0"/>
              <a:t>No </a:t>
            </a:r>
            <a:r>
              <a:rPr lang="en-US" dirty="0" err="1"/>
              <a:t>acepto</a:t>
            </a:r>
            <a:r>
              <a:rPr lang="en-US" dirty="0"/>
              <a:t> videos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entrega</a:t>
            </a:r>
            <a:r>
              <a:rPr lang="en-US" dirty="0"/>
              <a:t> o </a:t>
            </a:r>
            <a:r>
              <a:rPr lang="en-US" dirty="0" err="1"/>
              <a:t>imagenes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817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Reglas</a:t>
            </a:r>
            <a:r>
              <a:rPr lang="en-US" dirty="0"/>
              <a:t> del </a:t>
            </a:r>
            <a:r>
              <a:rPr lang="en-US" dirty="0" err="1"/>
              <a:t>Curso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01262"/>
            <a:ext cx="8946541" cy="4947138"/>
          </a:xfrm>
        </p:spPr>
        <p:txBody>
          <a:bodyPr>
            <a:normAutofit/>
          </a:bodyPr>
          <a:lstStyle/>
          <a:p>
            <a:r>
              <a:rPr lang="en-US" dirty="0"/>
              <a:t>No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necesario</a:t>
            </a:r>
            <a:r>
              <a:rPr lang="en-US" dirty="0"/>
              <a:t> </a:t>
            </a:r>
            <a:r>
              <a:rPr lang="en-US" dirty="0" err="1"/>
              <a:t>venir</a:t>
            </a:r>
            <a:r>
              <a:rPr lang="en-US" dirty="0"/>
              <a:t> a </a:t>
            </a:r>
            <a:r>
              <a:rPr lang="en-US" dirty="0" err="1"/>
              <a:t>clase</a:t>
            </a:r>
            <a:r>
              <a:rPr lang="en-US" dirty="0"/>
              <a:t>, sin embargo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entrega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al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presente</a:t>
            </a:r>
            <a:r>
              <a:rPr lang="en-US" dirty="0"/>
              <a:t>, </a:t>
            </a:r>
            <a:r>
              <a:rPr lang="en-US" dirty="0" err="1"/>
              <a:t>luego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retirarse</a:t>
            </a:r>
            <a:endParaRPr lang="en-US" dirty="0"/>
          </a:p>
          <a:p>
            <a:r>
              <a:rPr lang="en-US" dirty="0"/>
              <a:t>Los </a:t>
            </a:r>
            <a:r>
              <a:rPr lang="en-US" dirty="0" err="1"/>
              <a:t>laboratorios</a:t>
            </a:r>
            <a:r>
              <a:rPr lang="en-US" dirty="0"/>
              <a:t> </a:t>
            </a:r>
            <a:r>
              <a:rPr lang="en-US" dirty="0" err="1"/>
              <a:t>constan</a:t>
            </a:r>
            <a:r>
              <a:rPr lang="en-US" dirty="0"/>
              <a:t> de 100%</a:t>
            </a:r>
          </a:p>
          <a:p>
            <a:pPr lvl="1"/>
            <a:r>
              <a:rPr lang="en-US" dirty="0"/>
              <a:t>50% </a:t>
            </a:r>
            <a:r>
              <a:rPr lang="en-US" dirty="0" err="1"/>
              <a:t>es</a:t>
            </a:r>
            <a:r>
              <a:rPr lang="en-US" dirty="0"/>
              <a:t> completer lo </a:t>
            </a:r>
            <a:r>
              <a:rPr lang="en-US" dirty="0" err="1"/>
              <a:t>estipulado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guía</a:t>
            </a:r>
            <a:endParaRPr lang="en-US" dirty="0"/>
          </a:p>
          <a:p>
            <a:pPr lvl="1"/>
            <a:r>
              <a:rPr lang="en-US" dirty="0"/>
              <a:t>50%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parte, que se </a:t>
            </a:r>
            <a:r>
              <a:rPr lang="en-US" dirty="0" err="1"/>
              <a:t>detalla</a:t>
            </a:r>
            <a:r>
              <a:rPr lang="en-US" dirty="0"/>
              <a:t> un </a:t>
            </a:r>
            <a:r>
              <a:rPr lang="en-US" dirty="0" err="1"/>
              <a:t>reto</a:t>
            </a:r>
            <a:r>
              <a:rPr lang="en-US" dirty="0"/>
              <a:t> al final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guía</a:t>
            </a:r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día</a:t>
            </a:r>
            <a:r>
              <a:rPr lang="en-US" dirty="0"/>
              <a:t> de </a:t>
            </a:r>
            <a:r>
              <a:rPr lang="en-US" dirty="0" err="1"/>
              <a:t>entrega</a:t>
            </a:r>
            <a:r>
              <a:rPr lang="en-US" dirty="0"/>
              <a:t> de </a:t>
            </a:r>
            <a:r>
              <a:rPr lang="en-US" dirty="0" err="1"/>
              <a:t>proyecto</a:t>
            </a:r>
            <a:r>
              <a:rPr lang="en-US" dirty="0"/>
              <a:t> final </a:t>
            </a:r>
            <a:r>
              <a:rPr lang="en-US" dirty="0" err="1"/>
              <a:t>es</a:t>
            </a:r>
            <a:r>
              <a:rPr lang="en-US" dirty="0"/>
              <a:t> el ultimo </a:t>
            </a:r>
            <a:r>
              <a:rPr lang="en-US" dirty="0" err="1"/>
              <a:t>día</a:t>
            </a:r>
            <a:r>
              <a:rPr lang="en-US" dirty="0"/>
              <a:t> de </a:t>
            </a:r>
            <a:r>
              <a:rPr lang="en-US" dirty="0" err="1"/>
              <a:t>clases</a:t>
            </a:r>
            <a:endParaRPr lang="en-US" dirty="0"/>
          </a:p>
          <a:p>
            <a:pPr lvl="1"/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venir</a:t>
            </a:r>
            <a:r>
              <a:rPr lang="en-US" dirty="0"/>
              <a:t> al </a:t>
            </a:r>
            <a:r>
              <a:rPr lang="en-US" dirty="0" err="1"/>
              <a:t>menos</a:t>
            </a:r>
            <a:r>
              <a:rPr lang="en-US" dirty="0"/>
              <a:t> a </a:t>
            </a:r>
            <a:r>
              <a:rPr lang="en-US" dirty="0" err="1"/>
              <a:t>entregar</a:t>
            </a:r>
            <a:r>
              <a:rPr lang="en-US" dirty="0"/>
              <a:t> el Proyecto</a:t>
            </a:r>
          </a:p>
          <a:p>
            <a:pPr lvl="1"/>
            <a:r>
              <a:rPr lang="en-US" dirty="0"/>
              <a:t>Deben </a:t>
            </a:r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ese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 </a:t>
            </a:r>
            <a:r>
              <a:rPr lang="en-US" dirty="0" err="1"/>
              <a:t>notas</a:t>
            </a:r>
            <a:r>
              <a:rPr lang="en-US" dirty="0"/>
              <a:t>, ese </a:t>
            </a:r>
            <a:r>
              <a:rPr lang="en-US" dirty="0" err="1"/>
              <a:t>día</a:t>
            </a:r>
            <a:r>
              <a:rPr lang="en-US" dirty="0"/>
              <a:t> se </a:t>
            </a:r>
            <a:r>
              <a:rPr lang="en-US" dirty="0" err="1"/>
              <a:t>envían</a:t>
            </a:r>
            <a:r>
              <a:rPr lang="en-US" dirty="0"/>
              <a:t> </a:t>
            </a:r>
            <a:r>
              <a:rPr lang="en-US" dirty="0" err="1"/>
              <a:t>notas</a:t>
            </a:r>
            <a:endParaRPr lang="en-US" dirty="0"/>
          </a:p>
          <a:p>
            <a:r>
              <a:rPr lang="es-PA" dirty="0"/>
              <a:t>Si es estudiante IFARHU (becado) termine la materia si quiere nota</a:t>
            </a:r>
          </a:p>
          <a:p>
            <a:pPr lvl="1"/>
            <a:r>
              <a:rPr lang="es-PA" dirty="0"/>
              <a:t>No se pondrá nota de pase para mantener su beca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267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Reglas</a:t>
            </a:r>
            <a:r>
              <a:rPr lang="en-US" dirty="0"/>
              <a:t> del </a:t>
            </a:r>
            <a:r>
              <a:rPr lang="en-US" dirty="0" err="1"/>
              <a:t>Curso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01262"/>
            <a:ext cx="8946541" cy="4947138"/>
          </a:xfrm>
        </p:spPr>
        <p:txBody>
          <a:bodyPr>
            <a:normAutofit/>
          </a:bodyPr>
          <a:lstStyle/>
          <a:p>
            <a:r>
              <a:rPr lang="en-US" dirty="0"/>
              <a:t>No hay </a:t>
            </a:r>
            <a:r>
              <a:rPr lang="en-US" dirty="0" err="1"/>
              <a:t>medianas</a:t>
            </a:r>
            <a:endParaRPr lang="en-US" dirty="0"/>
          </a:p>
          <a:p>
            <a:r>
              <a:rPr lang="en-US" dirty="0"/>
              <a:t>No hay </a:t>
            </a:r>
            <a:r>
              <a:rPr lang="en-US" dirty="0" err="1"/>
              <a:t>trabajos</a:t>
            </a:r>
            <a:r>
              <a:rPr lang="en-US" dirty="0"/>
              <a:t> extra para </a:t>
            </a:r>
            <a:r>
              <a:rPr lang="en-US" dirty="0" err="1"/>
              <a:t>mejora</a:t>
            </a:r>
            <a:r>
              <a:rPr lang="en-US" dirty="0"/>
              <a:t> de nota</a:t>
            </a:r>
          </a:p>
          <a:p>
            <a:r>
              <a:rPr lang="en-US" dirty="0"/>
              <a:t>No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pedir</a:t>
            </a:r>
            <a:r>
              <a:rPr lang="en-US" dirty="0"/>
              <a:t> </a:t>
            </a:r>
            <a:r>
              <a:rPr lang="en-US" dirty="0" err="1"/>
              <a:t>puntos</a:t>
            </a:r>
            <a:r>
              <a:rPr lang="en-US" dirty="0"/>
              <a:t> </a:t>
            </a:r>
            <a:r>
              <a:rPr lang="en-US" dirty="0" err="1"/>
              <a:t>adicionales</a:t>
            </a:r>
            <a:r>
              <a:rPr lang="en-US" dirty="0"/>
              <a:t> al final de la </a:t>
            </a:r>
            <a:r>
              <a:rPr lang="en-US" dirty="0" err="1"/>
              <a:t>materia</a:t>
            </a:r>
            <a:endParaRPr lang="en-US" dirty="0"/>
          </a:p>
          <a:p>
            <a:r>
              <a:rPr lang="en-US" dirty="0"/>
              <a:t>El que </a:t>
            </a:r>
            <a:r>
              <a:rPr lang="en-US" dirty="0" err="1"/>
              <a:t>quiera</a:t>
            </a:r>
            <a:r>
              <a:rPr lang="en-US" dirty="0"/>
              <a:t> </a:t>
            </a:r>
            <a:r>
              <a:rPr lang="en-US" dirty="0" err="1"/>
              <a:t>retirar</a:t>
            </a:r>
            <a:r>
              <a:rPr lang="en-US" dirty="0"/>
              <a:t> </a:t>
            </a:r>
            <a:r>
              <a:rPr lang="en-US" dirty="0" err="1"/>
              <a:t>materias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decirmelo</a:t>
            </a:r>
            <a:r>
              <a:rPr lang="en-US" dirty="0"/>
              <a:t> </a:t>
            </a:r>
            <a:r>
              <a:rPr lang="en-US" dirty="0" err="1"/>
              <a:t>personalmente</a:t>
            </a:r>
            <a:r>
              <a:rPr lang="en-US" dirty="0"/>
              <a:t>, no </a:t>
            </a:r>
            <a:r>
              <a:rPr lang="en-US" dirty="0" err="1"/>
              <a:t>por</a:t>
            </a:r>
            <a:r>
              <a:rPr lang="en-US" dirty="0"/>
              <a:t> un amigo</a:t>
            </a:r>
          </a:p>
          <a:p>
            <a:pPr lvl="1"/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venir</a:t>
            </a:r>
            <a:r>
              <a:rPr lang="en-US" dirty="0"/>
              <a:t> el ultimo </a:t>
            </a:r>
            <a:r>
              <a:rPr lang="en-US" dirty="0" err="1"/>
              <a:t>dia</a:t>
            </a:r>
            <a:r>
              <a:rPr lang="en-US" dirty="0"/>
              <a:t> de </a:t>
            </a:r>
            <a:r>
              <a:rPr lang="en-US" dirty="0" err="1"/>
              <a:t>clases</a:t>
            </a:r>
            <a:r>
              <a:rPr lang="en-US" dirty="0"/>
              <a:t> a </a:t>
            </a:r>
            <a:r>
              <a:rPr lang="en-US" dirty="0" err="1"/>
              <a:t>verificar</a:t>
            </a:r>
            <a:r>
              <a:rPr lang="en-US" dirty="0"/>
              <a:t> antes de </a:t>
            </a:r>
            <a:r>
              <a:rPr lang="en-US" dirty="0" err="1"/>
              <a:t>enviarse</a:t>
            </a:r>
            <a:r>
              <a:rPr lang="en-US" dirty="0"/>
              <a:t> las </a:t>
            </a:r>
            <a:r>
              <a:rPr lang="en-US" dirty="0" err="1"/>
              <a:t>notas</a:t>
            </a:r>
            <a:r>
              <a:rPr lang="en-US" dirty="0"/>
              <a:t> que se </a:t>
            </a:r>
            <a:r>
              <a:rPr lang="en-US" dirty="0" err="1"/>
              <a:t>efectuará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“Sin Nota”</a:t>
            </a:r>
          </a:p>
          <a:p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reclamos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momento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hay </a:t>
            </a:r>
            <a:r>
              <a:rPr lang="en-US" dirty="0" err="1"/>
              <a:t>alguna</a:t>
            </a:r>
            <a:r>
              <a:rPr lang="en-US" dirty="0"/>
              <a:t> </a:t>
            </a:r>
            <a:r>
              <a:rPr lang="en-US" dirty="0" err="1"/>
              <a:t>tarea</a:t>
            </a:r>
            <a:r>
              <a:rPr lang="en-US" dirty="0"/>
              <a:t> o </a:t>
            </a:r>
            <a:r>
              <a:rPr lang="en-US" dirty="0" err="1"/>
              <a:t>asignación</a:t>
            </a:r>
            <a:r>
              <a:rPr lang="en-US" dirty="0"/>
              <a:t> que </a:t>
            </a:r>
            <a:r>
              <a:rPr lang="en-US" dirty="0" err="1"/>
              <a:t>considera</a:t>
            </a:r>
            <a:r>
              <a:rPr lang="en-US" dirty="0"/>
              <a:t> </a:t>
            </a:r>
            <a:r>
              <a:rPr lang="en-US" dirty="0" err="1"/>
              <a:t>hubo</a:t>
            </a:r>
            <a:r>
              <a:rPr lang="en-US" dirty="0"/>
              <a:t> un error</a:t>
            </a:r>
          </a:p>
          <a:p>
            <a:r>
              <a:rPr lang="en-US" dirty="0"/>
              <a:t>Si </a:t>
            </a:r>
            <a:r>
              <a:rPr lang="en-US" dirty="0" err="1"/>
              <a:t>observa</a:t>
            </a:r>
            <a:r>
              <a:rPr lang="en-US" dirty="0"/>
              <a:t> que el </a:t>
            </a:r>
            <a:r>
              <a:rPr lang="en-US" dirty="0" err="1"/>
              <a:t>reclamo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ir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arriba</a:t>
            </a:r>
            <a:r>
              <a:rPr lang="en-US" dirty="0"/>
              <a:t>, </a:t>
            </a:r>
            <a:r>
              <a:rPr lang="en-US" dirty="0" err="1"/>
              <a:t>hable</a:t>
            </a:r>
            <a:r>
              <a:rPr lang="en-US" dirty="0"/>
              <a:t> con el </a:t>
            </a:r>
            <a:r>
              <a:rPr lang="en-US" dirty="0" err="1"/>
              <a:t>coordinador</a:t>
            </a:r>
            <a:r>
              <a:rPr lang="en-US" dirty="0"/>
              <a:t> de Carrera</a:t>
            </a:r>
          </a:p>
          <a:p>
            <a:r>
              <a:rPr lang="en-US" dirty="0"/>
              <a:t>Al final de la </a:t>
            </a:r>
            <a:r>
              <a:rPr lang="en-US" dirty="0" err="1"/>
              <a:t>materia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observa</a:t>
            </a:r>
            <a:r>
              <a:rPr lang="en-US" dirty="0"/>
              <a:t> </a:t>
            </a:r>
            <a:r>
              <a:rPr lang="en-US" dirty="0" err="1"/>
              <a:t>alguna</a:t>
            </a:r>
            <a:r>
              <a:rPr lang="en-US" dirty="0"/>
              <a:t> </a:t>
            </a:r>
            <a:r>
              <a:rPr lang="en-US" dirty="0" err="1"/>
              <a:t>anormalidad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solicitor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reclamo</a:t>
            </a:r>
            <a:r>
              <a:rPr lang="en-US" dirty="0"/>
              <a:t> de nota (</a:t>
            </a:r>
            <a:r>
              <a:rPr lang="en-US" dirty="0" err="1"/>
              <a:t>ventanilla</a:t>
            </a:r>
            <a:r>
              <a:rPr lang="en-US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538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Reglas</a:t>
            </a:r>
            <a:r>
              <a:rPr lang="en-US" dirty="0"/>
              <a:t> del </a:t>
            </a:r>
            <a:r>
              <a:rPr lang="en-US" dirty="0" err="1"/>
              <a:t>Curso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96538"/>
            <a:ext cx="8946541" cy="485186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No </a:t>
            </a:r>
            <a:r>
              <a:rPr lang="en-US" dirty="0" err="1"/>
              <a:t>acepto</a:t>
            </a:r>
            <a:r>
              <a:rPr lang="en-US" dirty="0"/>
              <a:t> </a:t>
            </a:r>
            <a:r>
              <a:rPr lang="en-US" dirty="0" err="1"/>
              <a:t>excusas</a:t>
            </a:r>
            <a:r>
              <a:rPr lang="en-US" dirty="0"/>
              <a:t> e </a:t>
            </a:r>
            <a:r>
              <a:rPr lang="en-US" dirty="0" err="1"/>
              <a:t>inconvenientes</a:t>
            </a:r>
            <a:endParaRPr lang="en-US" dirty="0"/>
          </a:p>
          <a:p>
            <a:pPr lvl="1"/>
            <a:r>
              <a:rPr lang="en-US" dirty="0" err="1"/>
              <a:t>acepto</a:t>
            </a:r>
            <a:r>
              <a:rPr lang="en-US" dirty="0"/>
              <a:t> </a:t>
            </a:r>
            <a:r>
              <a:rPr lang="en-US" dirty="0" err="1"/>
              <a:t>soluciones</a:t>
            </a:r>
            <a:endParaRPr lang="en-US" dirty="0"/>
          </a:p>
          <a:p>
            <a:r>
              <a:rPr lang="en-US" dirty="0"/>
              <a:t>Si no </a:t>
            </a:r>
            <a:r>
              <a:rPr lang="en-US" dirty="0" err="1"/>
              <a:t>consigue</a:t>
            </a:r>
            <a:r>
              <a:rPr lang="en-US" dirty="0"/>
              <a:t> resolver un </a:t>
            </a:r>
            <a:r>
              <a:rPr lang="en-US" dirty="0" err="1"/>
              <a:t>problema</a:t>
            </a:r>
            <a:r>
              <a:rPr lang="en-US" dirty="0"/>
              <a:t>, </a:t>
            </a:r>
            <a:r>
              <a:rPr lang="en-US" dirty="0" err="1"/>
              <a:t>ayudense</a:t>
            </a:r>
            <a:r>
              <a:rPr lang="en-US" dirty="0"/>
              <a:t> entre </a:t>
            </a:r>
            <a:r>
              <a:rPr lang="en-US" dirty="0" err="1"/>
              <a:t>uds</a:t>
            </a:r>
            <a:r>
              <a:rPr lang="en-US" dirty="0"/>
              <a:t> o me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consultar</a:t>
            </a:r>
            <a:r>
              <a:rPr lang="en-US" dirty="0"/>
              <a:t> para </a:t>
            </a:r>
            <a:r>
              <a:rPr lang="en-US" dirty="0" err="1"/>
              <a:t>guía</a:t>
            </a:r>
            <a:r>
              <a:rPr lang="en-US" dirty="0"/>
              <a:t> no para </a:t>
            </a:r>
            <a:r>
              <a:rPr lang="en-US" dirty="0" err="1"/>
              <a:t>resolverle</a:t>
            </a:r>
            <a:r>
              <a:rPr lang="en-US" dirty="0"/>
              <a:t> el </a:t>
            </a:r>
            <a:r>
              <a:rPr lang="en-US" dirty="0" err="1"/>
              <a:t>problema</a:t>
            </a:r>
            <a:endParaRPr lang="en-US" dirty="0"/>
          </a:p>
          <a:p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laboramos</a:t>
            </a:r>
            <a:endParaRPr lang="en-US" dirty="0"/>
          </a:p>
          <a:p>
            <a:pPr lvl="1"/>
            <a:r>
              <a:rPr lang="en-US" dirty="0"/>
              <a:t>Si se le </a:t>
            </a:r>
            <a:r>
              <a:rPr lang="en-US" dirty="0" err="1"/>
              <a:t>dificulta</a:t>
            </a:r>
            <a:r>
              <a:rPr lang="en-US" dirty="0"/>
              <a:t> la material </a:t>
            </a:r>
            <a:r>
              <a:rPr lang="en-US" dirty="0" err="1"/>
              <a:t>retírela</a:t>
            </a:r>
            <a:endParaRPr lang="en-US" dirty="0"/>
          </a:p>
          <a:p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tenemos</a:t>
            </a:r>
            <a:r>
              <a:rPr lang="en-US" dirty="0"/>
              <a:t> </a:t>
            </a:r>
            <a:r>
              <a:rPr lang="en-US" dirty="0" err="1"/>
              <a:t>gastos</a:t>
            </a:r>
            <a:endParaRPr lang="en-US" dirty="0"/>
          </a:p>
          <a:p>
            <a:pPr lvl="1"/>
            <a:r>
              <a:rPr lang="en-US" dirty="0"/>
              <a:t>Si la material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retírela</a:t>
            </a:r>
            <a:endParaRPr lang="en-US" dirty="0"/>
          </a:p>
          <a:p>
            <a:r>
              <a:rPr lang="en-US" dirty="0" err="1"/>
              <a:t>Tiene</a:t>
            </a:r>
            <a:r>
              <a:rPr lang="en-US" dirty="0"/>
              <a:t> derecho a “Sin Nota”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momento</a:t>
            </a:r>
            <a:r>
              <a:rPr lang="en-US" dirty="0"/>
              <a:t> del </a:t>
            </a:r>
            <a:r>
              <a:rPr lang="en-US" dirty="0" err="1"/>
              <a:t>curso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ud</a:t>
            </a:r>
            <a:r>
              <a:rPr lang="en-US" dirty="0"/>
              <a:t> lo </a:t>
            </a:r>
            <a:r>
              <a:rPr lang="en-US" dirty="0" err="1"/>
              <a:t>solicita</a:t>
            </a:r>
            <a:endParaRPr lang="en-US" dirty="0"/>
          </a:p>
          <a:p>
            <a:r>
              <a:rPr lang="es-PA" dirty="0"/>
              <a:t>Si la siguiente materia es pre-requisito de esta y necesita su nota que está SN, entonces termine el proyecto final y preséntelo.</a:t>
            </a:r>
          </a:p>
          <a:p>
            <a:pPr lvl="1"/>
            <a:r>
              <a:rPr lang="es-PA" dirty="0"/>
              <a:t>No se puede pedir parcialmente una nota para matricular la siguiente.</a:t>
            </a:r>
            <a:endParaRPr lang="en-US" dirty="0"/>
          </a:p>
          <a:p>
            <a:r>
              <a:rPr lang="en-US" dirty="0"/>
              <a:t>No presto </a:t>
            </a:r>
            <a:r>
              <a:rPr lang="en-US" dirty="0" err="1"/>
              <a:t>componentes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tarjetas</a:t>
            </a:r>
            <a:r>
              <a:rPr lang="en-US" dirty="0"/>
              <a:t>, no soy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tienda</a:t>
            </a:r>
            <a:endParaRPr lang="en-US" dirty="0"/>
          </a:p>
          <a:p>
            <a:r>
              <a:rPr lang="en-US" dirty="0"/>
              <a:t>Deben </a:t>
            </a:r>
            <a:r>
              <a:rPr lang="en-US" dirty="0" err="1"/>
              <a:t>conseguir</a:t>
            </a:r>
            <a:r>
              <a:rPr lang="en-US" dirty="0"/>
              <a:t>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 </a:t>
            </a:r>
            <a:r>
              <a:rPr lang="en-US" dirty="0" err="1"/>
              <a:t>insumos</a:t>
            </a:r>
            <a:r>
              <a:rPr lang="en-US" dirty="0"/>
              <a:t> 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laboratorios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el </a:t>
            </a:r>
            <a:r>
              <a:rPr lang="en-US" dirty="0" err="1"/>
              <a:t>día</a:t>
            </a:r>
            <a:r>
              <a:rPr lang="en-US" dirty="0"/>
              <a:t> 1.</a:t>
            </a:r>
          </a:p>
        </p:txBody>
      </p:sp>
    </p:spTree>
    <p:extLst>
      <p:ext uri="{BB962C8B-B14F-4D97-AF65-F5344CB8AC3E}">
        <p14:creationId xmlns:p14="http://schemas.microsoft.com/office/powerpoint/2010/main" val="1369434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Objetivos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614196"/>
            <a:ext cx="10429325" cy="4926563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Aprender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fundamentos</a:t>
            </a:r>
            <a:r>
              <a:rPr lang="en-US" dirty="0"/>
              <a:t> de:</a:t>
            </a:r>
          </a:p>
          <a:p>
            <a:pPr lvl="1"/>
            <a:r>
              <a:rPr lang="es-PA" dirty="0"/>
              <a:t>Inteligencia Artificial (Artificial </a:t>
            </a:r>
            <a:r>
              <a:rPr lang="es-PA" dirty="0" err="1"/>
              <a:t>Intelligence</a:t>
            </a:r>
            <a:r>
              <a:rPr lang="es-PA" dirty="0"/>
              <a:t>)</a:t>
            </a:r>
            <a:endParaRPr lang="en-US" dirty="0"/>
          </a:p>
          <a:p>
            <a:pPr lvl="1"/>
            <a:r>
              <a:rPr lang="en-US" dirty="0" err="1"/>
              <a:t>Aprendizaje</a:t>
            </a:r>
            <a:r>
              <a:rPr lang="en-US" dirty="0"/>
              <a:t> de </a:t>
            </a:r>
            <a:r>
              <a:rPr lang="en-US" dirty="0" err="1"/>
              <a:t>Máquina</a:t>
            </a:r>
            <a:r>
              <a:rPr lang="en-US" dirty="0"/>
              <a:t> (Machine Learning)</a:t>
            </a:r>
          </a:p>
          <a:p>
            <a:pPr lvl="1"/>
            <a:r>
              <a:rPr lang="en-US" dirty="0" err="1"/>
              <a:t>Aprendizaje</a:t>
            </a:r>
            <a:r>
              <a:rPr lang="en-US" dirty="0"/>
              <a:t> </a:t>
            </a:r>
            <a:r>
              <a:rPr lang="en-US" dirty="0" err="1"/>
              <a:t>Profundo</a:t>
            </a:r>
            <a:r>
              <a:rPr lang="en-US" dirty="0"/>
              <a:t> (Deep Learning) </a:t>
            </a:r>
          </a:p>
          <a:p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proyectos</a:t>
            </a:r>
            <a:r>
              <a:rPr lang="en-US" dirty="0"/>
              <a:t> </a:t>
            </a:r>
            <a:r>
              <a:rPr lang="en-US" dirty="0" err="1"/>
              <a:t>reales</a:t>
            </a:r>
            <a:r>
              <a:rPr lang="en-US" dirty="0"/>
              <a:t> que </a:t>
            </a:r>
            <a:r>
              <a:rPr lang="en-US" dirty="0" err="1"/>
              <a:t>llevarán</a:t>
            </a:r>
            <a:r>
              <a:rPr lang="en-US" dirty="0"/>
              <a:t> a explorer el </a:t>
            </a:r>
            <a:r>
              <a:rPr lang="en-US" dirty="0" err="1"/>
              <a:t>mundo</a:t>
            </a:r>
            <a:r>
              <a:rPr lang="en-US" dirty="0"/>
              <a:t> de la IA </a:t>
            </a:r>
          </a:p>
          <a:p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teoría</a:t>
            </a:r>
            <a:r>
              <a:rPr lang="en-US" dirty="0"/>
              <a:t> y </a:t>
            </a:r>
            <a:r>
              <a:rPr lang="en-US" dirty="0" err="1"/>
              <a:t>práctica</a:t>
            </a:r>
            <a:endParaRPr lang="en-US" dirty="0"/>
          </a:p>
          <a:p>
            <a:pPr lvl="1"/>
            <a:r>
              <a:rPr lang="en-US" dirty="0"/>
              <a:t>60% </a:t>
            </a:r>
            <a:r>
              <a:rPr lang="en-US" dirty="0" err="1"/>
              <a:t>Práctica</a:t>
            </a:r>
            <a:endParaRPr lang="en-US" dirty="0"/>
          </a:p>
          <a:p>
            <a:pPr lvl="1"/>
            <a:r>
              <a:rPr lang="en-US" dirty="0"/>
              <a:t>40% </a:t>
            </a:r>
            <a:r>
              <a:rPr lang="en-US" dirty="0" err="1"/>
              <a:t>Teoría</a:t>
            </a:r>
            <a:endParaRPr lang="en-US" dirty="0"/>
          </a:p>
          <a:p>
            <a:r>
              <a:rPr lang="en-US" dirty="0"/>
              <a:t>Al </a:t>
            </a:r>
            <a:r>
              <a:rPr lang="en-US" dirty="0" err="1"/>
              <a:t>finalizar</a:t>
            </a:r>
            <a:r>
              <a:rPr lang="en-US" dirty="0"/>
              <a:t> el </a:t>
            </a:r>
            <a:r>
              <a:rPr lang="en-US" dirty="0" err="1"/>
              <a:t>curso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capaz</a:t>
            </a:r>
            <a:r>
              <a:rPr lang="en-US" dirty="0"/>
              <a:t> de:</a:t>
            </a:r>
          </a:p>
          <a:p>
            <a:pPr lvl="1"/>
            <a:r>
              <a:rPr lang="en-US" dirty="0" err="1"/>
              <a:t>Construir</a:t>
            </a:r>
            <a:r>
              <a:rPr lang="en-US" dirty="0"/>
              <a:t> </a:t>
            </a:r>
            <a:r>
              <a:rPr lang="en-US" dirty="0" err="1"/>
              <a:t>proyectos</a:t>
            </a:r>
            <a:r>
              <a:rPr lang="en-US" dirty="0"/>
              <a:t> de IA</a:t>
            </a:r>
          </a:p>
          <a:p>
            <a:pPr lvl="1"/>
            <a:r>
              <a:rPr lang="en-US" dirty="0" err="1"/>
              <a:t>Afinar</a:t>
            </a:r>
            <a:r>
              <a:rPr lang="en-US" dirty="0"/>
              <a:t> y </a:t>
            </a:r>
            <a:r>
              <a:rPr lang="en-US" dirty="0" err="1"/>
              <a:t>utilizar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/>
              <a:t> ideas para </a:t>
            </a:r>
            <a:r>
              <a:rPr lang="en-US" dirty="0" err="1"/>
              <a:t>concretarlas</a:t>
            </a:r>
            <a:endParaRPr lang="en-US" dirty="0"/>
          </a:p>
          <a:p>
            <a:r>
              <a:rPr lang="es-PA" dirty="0"/>
              <a:t>Sentirse capaces de participar en una </a:t>
            </a:r>
            <a:r>
              <a:rPr lang="es-PA" dirty="0" err="1"/>
              <a:t>hackaton</a:t>
            </a:r>
            <a:r>
              <a:rPr lang="es-PA" dirty="0"/>
              <a:t> de IA</a:t>
            </a:r>
            <a:endParaRPr lang="en-US" dirty="0"/>
          </a:p>
          <a:p>
            <a:endParaRPr lang="es-PA" dirty="0"/>
          </a:p>
          <a:p>
            <a:r>
              <a:rPr lang="es-PA" dirty="0"/>
              <a:t>Repositorio</a:t>
            </a:r>
          </a:p>
          <a:p>
            <a:pPr lvl="1"/>
            <a:r>
              <a:rPr lang="es-PA" dirty="0" err="1"/>
              <a:t>Github</a:t>
            </a:r>
            <a:r>
              <a:rPr lang="es-PA" dirty="0"/>
              <a:t>: https://github.com/ulatinaedupa/ArtificialIntelligence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76385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División</a:t>
            </a:r>
            <a:r>
              <a:rPr lang="en-US" dirty="0"/>
              <a:t> de </a:t>
            </a:r>
            <a:r>
              <a:rPr lang="en-US" dirty="0" err="1"/>
              <a:t>Porcentajes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12197" y="2003042"/>
            <a:ext cx="5272550" cy="260220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/>
              <a:t>Laboratorios</a:t>
            </a:r>
            <a:r>
              <a:rPr lang="en-US" b="1" dirty="0"/>
              <a:t>		</a:t>
            </a:r>
            <a:r>
              <a:rPr lang="en-US" b="1" dirty="0" smtClean="0"/>
              <a:t>             20 %</a:t>
            </a:r>
            <a:endParaRPr lang="en-US" b="1" dirty="0"/>
          </a:p>
          <a:p>
            <a:r>
              <a:rPr lang="es-PA" b="1" dirty="0"/>
              <a:t>Tareas			</a:t>
            </a:r>
            <a:r>
              <a:rPr lang="es-PA" b="1" dirty="0" smtClean="0"/>
              <a:t>       </a:t>
            </a:r>
            <a:r>
              <a:rPr lang="es-PA" b="1" dirty="0"/>
              <a:t> </a:t>
            </a:r>
            <a:r>
              <a:rPr lang="es-PA" b="1" dirty="0" smtClean="0"/>
              <a:t>     </a:t>
            </a:r>
            <a:r>
              <a:rPr lang="es-PA" b="1" dirty="0" smtClean="0"/>
              <a:t>10 %</a:t>
            </a:r>
            <a:endParaRPr lang="es-PA" b="1" dirty="0"/>
          </a:p>
          <a:p>
            <a:r>
              <a:rPr lang="es-PA" b="1" dirty="0" err="1"/>
              <a:t>Quizes</a:t>
            </a:r>
            <a:r>
              <a:rPr lang="es-PA" b="1" dirty="0"/>
              <a:t>				</a:t>
            </a:r>
            <a:r>
              <a:rPr lang="es-PA" b="1" dirty="0" smtClean="0"/>
              <a:t>       10 %</a:t>
            </a:r>
          </a:p>
          <a:p>
            <a:r>
              <a:rPr lang="es-PA" b="1" dirty="0" err="1" smtClean="0"/>
              <a:t>Mid-Term</a:t>
            </a:r>
            <a:r>
              <a:rPr lang="es-PA" b="1" dirty="0" smtClean="0"/>
              <a:t> Project / Feria  20 %</a:t>
            </a:r>
            <a:endParaRPr lang="es-PA" b="1" dirty="0"/>
          </a:p>
          <a:p>
            <a:r>
              <a:rPr lang="es-PA" b="1" dirty="0"/>
              <a:t>Proyecto Final		</a:t>
            </a:r>
            <a:r>
              <a:rPr lang="es-PA" b="1" dirty="0" smtClean="0"/>
              <a:t>        40 %</a:t>
            </a:r>
            <a:endParaRPr lang="es-PA" b="1" dirty="0"/>
          </a:p>
          <a:p>
            <a:pPr marL="0" indent="0">
              <a:buNone/>
            </a:pPr>
            <a:r>
              <a:rPr lang="es-PA" b="1" dirty="0"/>
              <a:t>___________________________</a:t>
            </a:r>
          </a:p>
          <a:p>
            <a:r>
              <a:rPr lang="es-PA" b="1"/>
              <a:t>Total                        </a:t>
            </a:r>
            <a:r>
              <a:rPr lang="es-PA" b="1" smtClean="0"/>
              <a:t>          100 %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901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721382" cy="1400530"/>
          </a:xfrm>
        </p:spPr>
        <p:txBody>
          <a:bodyPr/>
          <a:lstStyle/>
          <a:p>
            <a:r>
              <a:rPr lang="es-PA" dirty="0"/>
              <a:t>Proyecto Final – Construir un Sistema de Inteligencia Artificial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7548" y="2091556"/>
            <a:ext cx="11534961" cy="4425154"/>
          </a:xfrm>
        </p:spPr>
        <p:txBody>
          <a:bodyPr>
            <a:normAutofit fontScale="85000" lnSpcReduction="20000"/>
          </a:bodyPr>
          <a:lstStyle/>
          <a:p>
            <a:r>
              <a:rPr lang="es-PA" b="1" dirty="0">
                <a:solidFill>
                  <a:srgbClr val="FF0000"/>
                </a:solidFill>
              </a:rPr>
              <a:t>Si usa hardware, no utilizar ARDUINO. Si lo hace = -1000%</a:t>
            </a:r>
          </a:p>
          <a:p>
            <a:r>
              <a:rPr lang="es-PA" b="1" i="1" dirty="0"/>
              <a:t>Puede usar tarjetas hijas de cualquier plataforma!</a:t>
            </a:r>
          </a:p>
          <a:p>
            <a:r>
              <a:rPr lang="es-PA" dirty="0"/>
              <a:t>Grupo de 3 personas</a:t>
            </a:r>
          </a:p>
          <a:p>
            <a:pPr lvl="1"/>
            <a:r>
              <a:rPr lang="es-PA" dirty="0"/>
              <a:t>Todos tienen las mismas notas aún si solo trabaja 1</a:t>
            </a:r>
          </a:p>
          <a:p>
            <a:r>
              <a:rPr lang="es-PA" dirty="0"/>
              <a:t>Construir un sistema que tenga Inteligencia Artificial</a:t>
            </a:r>
          </a:p>
          <a:p>
            <a:pPr lvl="1"/>
            <a:r>
              <a:rPr lang="es-PA" dirty="0"/>
              <a:t>Aplicación remota corriendo en un servidor</a:t>
            </a:r>
          </a:p>
          <a:p>
            <a:pPr lvl="2"/>
            <a:r>
              <a:rPr lang="es-PA" dirty="0"/>
              <a:t>Local </a:t>
            </a:r>
            <a:r>
              <a:rPr lang="es-PA" dirty="0" err="1"/>
              <a:t>ó</a:t>
            </a:r>
            <a:r>
              <a:rPr lang="es-PA" dirty="0"/>
              <a:t> Remoto</a:t>
            </a:r>
          </a:p>
          <a:p>
            <a:pPr lvl="1"/>
            <a:r>
              <a:rPr lang="es-PA" dirty="0"/>
              <a:t>Debe usar un </a:t>
            </a:r>
            <a:r>
              <a:rPr lang="es-PA" dirty="0" err="1"/>
              <a:t>dataset</a:t>
            </a:r>
            <a:r>
              <a:rPr lang="es-PA" dirty="0"/>
              <a:t> abierto o construir su propio </a:t>
            </a:r>
            <a:r>
              <a:rPr lang="es-PA" dirty="0" err="1"/>
              <a:t>dataset</a:t>
            </a:r>
            <a:r>
              <a:rPr lang="es-PA" dirty="0"/>
              <a:t> (10%)</a:t>
            </a:r>
          </a:p>
          <a:p>
            <a:pPr lvl="2"/>
            <a:r>
              <a:rPr lang="es-PA" dirty="0" err="1"/>
              <a:t>Kaggle</a:t>
            </a:r>
            <a:r>
              <a:rPr lang="es-PA" dirty="0"/>
              <a:t>, Data.gov, Nasa.gov </a:t>
            </a:r>
            <a:r>
              <a:rPr lang="es-PA" dirty="0" err="1"/>
              <a:t>ó</a:t>
            </a:r>
            <a:r>
              <a:rPr lang="es-PA" dirty="0"/>
              <a:t> cualquier </a:t>
            </a:r>
            <a:r>
              <a:rPr lang="es-PA" dirty="0" err="1"/>
              <a:t>dataset</a:t>
            </a:r>
            <a:r>
              <a:rPr lang="es-PA" dirty="0"/>
              <a:t> abierto</a:t>
            </a:r>
          </a:p>
          <a:p>
            <a:pPr lvl="1"/>
            <a:r>
              <a:rPr lang="es-PA" dirty="0"/>
              <a:t>Debe ser capaz de realizar training incremental de los nuevos campos en la base de datos (20%)</a:t>
            </a:r>
          </a:p>
          <a:p>
            <a:pPr lvl="1"/>
            <a:r>
              <a:rPr lang="es-PA" dirty="0"/>
              <a:t>Capaz de mostrar las predicciones, clasificaciones o ambas (25%)</a:t>
            </a:r>
          </a:p>
          <a:p>
            <a:pPr lvl="1"/>
            <a:r>
              <a:rPr lang="es-PA" dirty="0"/>
              <a:t>Capaz de realizar reportes y estadísticas (20%)</a:t>
            </a:r>
          </a:p>
          <a:p>
            <a:pPr lvl="1"/>
            <a:r>
              <a:rPr lang="es-PA" dirty="0"/>
              <a:t>Usar Amazon Web </a:t>
            </a:r>
            <a:r>
              <a:rPr lang="es-PA" dirty="0" err="1"/>
              <a:t>Services</a:t>
            </a:r>
            <a:r>
              <a:rPr lang="es-PA" dirty="0"/>
              <a:t> (10%)</a:t>
            </a:r>
          </a:p>
          <a:p>
            <a:pPr lvl="1"/>
            <a:r>
              <a:rPr lang="es-PA" dirty="0"/>
              <a:t>Escrito en formato IEEE (15%)</a:t>
            </a:r>
          </a:p>
        </p:txBody>
      </p:sp>
      <p:pic>
        <p:nvPicPr>
          <p:cNvPr id="3074" name="Picture 2" descr="Image result for kagg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135" y="1383396"/>
            <a:ext cx="3294668" cy="127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data.go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335" y="5543581"/>
            <a:ext cx="2665162" cy="121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 result for nasa.gov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497" y="2963227"/>
            <a:ext cx="2305541" cy="1820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182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Introducción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Inteligencia</a:t>
            </a:r>
            <a:r>
              <a:rPr lang="en-US" dirty="0"/>
              <a:t> Artificial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uno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campos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interesantes</a:t>
            </a:r>
            <a:r>
              <a:rPr lang="en-US" dirty="0"/>
              <a:t> hoy</a:t>
            </a:r>
          </a:p>
          <a:p>
            <a:pPr lvl="1"/>
            <a:r>
              <a:rPr lang="en-US" dirty="0"/>
              <a:t>Ha </a:t>
            </a:r>
            <a:r>
              <a:rPr lang="en-US" dirty="0" err="1"/>
              <a:t>existido</a:t>
            </a:r>
            <a:r>
              <a:rPr lang="en-US" dirty="0"/>
              <a:t> de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décadas</a:t>
            </a:r>
            <a:endParaRPr lang="en-US" dirty="0"/>
          </a:p>
          <a:p>
            <a:pPr lvl="1"/>
            <a:r>
              <a:rPr lang="en-US" dirty="0"/>
              <a:t>Se </a:t>
            </a:r>
            <a:r>
              <a:rPr lang="en-US" dirty="0" err="1"/>
              <a:t>conocia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expertos</a:t>
            </a:r>
            <a:endParaRPr lang="en-US" dirty="0"/>
          </a:p>
          <a:p>
            <a:pPr lvl="1"/>
            <a:r>
              <a:rPr lang="en-US" dirty="0"/>
              <a:t>Se </a:t>
            </a:r>
            <a:r>
              <a:rPr lang="en-US" dirty="0" err="1"/>
              <a:t>habla</a:t>
            </a:r>
            <a:r>
              <a:rPr lang="en-US" dirty="0"/>
              <a:t> mucho de AI, ML, DL, RL</a:t>
            </a:r>
          </a:p>
          <a:p>
            <a:pPr lvl="1"/>
            <a:endParaRPr lang="en-US" dirty="0"/>
          </a:p>
          <a:p>
            <a:r>
              <a:rPr lang="en-US" dirty="0" err="1"/>
              <a:t>Existen</a:t>
            </a:r>
            <a:r>
              <a:rPr lang="en-US" dirty="0"/>
              <a:t> </a:t>
            </a:r>
            <a:r>
              <a:rPr lang="en-US" dirty="0" err="1"/>
              <a:t>librerías</a:t>
            </a:r>
            <a:r>
              <a:rPr lang="en-US" dirty="0"/>
              <a:t> de </a:t>
            </a:r>
            <a:r>
              <a:rPr lang="en-US" dirty="0" err="1"/>
              <a:t>ayuda</a:t>
            </a:r>
            <a:r>
              <a:rPr lang="en-US" dirty="0"/>
              <a:t> o frameworks de </a:t>
            </a:r>
            <a:r>
              <a:rPr lang="en-US" dirty="0" err="1"/>
              <a:t>trabajo</a:t>
            </a:r>
            <a:r>
              <a:rPr lang="en-US" dirty="0"/>
              <a:t>: TF, </a:t>
            </a:r>
            <a:r>
              <a:rPr lang="en-US" dirty="0" err="1"/>
              <a:t>Keras</a:t>
            </a:r>
            <a:r>
              <a:rPr lang="en-US" dirty="0"/>
              <a:t>, </a:t>
            </a:r>
            <a:r>
              <a:rPr lang="en-US" dirty="0" err="1"/>
              <a:t>Scikit</a:t>
            </a:r>
            <a:r>
              <a:rPr lang="en-US" dirty="0"/>
              <a:t>-learn, etc.</a:t>
            </a:r>
          </a:p>
          <a:p>
            <a:r>
              <a:rPr lang="en-US" dirty="0"/>
              <a:t>Software de </a:t>
            </a:r>
            <a:r>
              <a:rPr lang="en-US" dirty="0" err="1"/>
              <a:t>Trabajo</a:t>
            </a:r>
            <a:r>
              <a:rPr lang="en-US" dirty="0"/>
              <a:t>: Python,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</p:txBody>
      </p:sp>
      <p:pic>
        <p:nvPicPr>
          <p:cNvPr id="1032" name="Picture 8" descr="Image result for scikit lear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076" y="637376"/>
            <a:ext cx="2314059" cy="124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ker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554" y="2980305"/>
            <a:ext cx="3523926" cy="1021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spac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01" y="1045927"/>
            <a:ext cx="2978764" cy="1064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tensorflo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8629" y="1243963"/>
            <a:ext cx="1879466" cy="156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Image result for anaconda opensourc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55" y="5446530"/>
            <a:ext cx="2537798" cy="1266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Image result for jupyter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1086" y="4199844"/>
            <a:ext cx="1621610" cy="187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008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682877" cy="1400530"/>
          </a:xfrm>
        </p:spPr>
        <p:txBody>
          <a:bodyPr/>
          <a:lstStyle/>
          <a:p>
            <a:r>
              <a:rPr lang="es-PA" dirty="0"/>
              <a:t>Top 10 Compañías con Fallos en uso con la 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2650" y="2034257"/>
            <a:ext cx="10959535" cy="4618470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dirty="0" err="1"/>
              <a:t>pesar</a:t>
            </a:r>
            <a:r>
              <a:rPr lang="en-US" dirty="0"/>
              <a:t> de </a:t>
            </a:r>
            <a:r>
              <a:rPr lang="en-US" dirty="0" err="1"/>
              <a:t>ser</a:t>
            </a:r>
            <a:r>
              <a:rPr lang="en-US" dirty="0"/>
              <a:t> “</a:t>
            </a:r>
            <a:r>
              <a:rPr lang="en-US" dirty="0" err="1"/>
              <a:t>maravilloso</a:t>
            </a:r>
            <a:r>
              <a:rPr lang="en-US" dirty="0"/>
              <a:t>”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fallas</a:t>
            </a:r>
            <a:r>
              <a:rPr lang="en-US" dirty="0"/>
              <a:t> </a:t>
            </a:r>
            <a:r>
              <a:rPr lang="en-US" dirty="0" err="1"/>
              <a:t>catastróficas</a:t>
            </a:r>
            <a:endParaRPr lang="en-US" dirty="0"/>
          </a:p>
          <a:p>
            <a:r>
              <a:rPr lang="es-PA" b="1" i="1" dirty="0"/>
              <a:t>10 - Billonaria China es identificada como si cruzara vías de seguridad transitada</a:t>
            </a:r>
          </a:p>
          <a:p>
            <a:pPr lvl="1"/>
            <a:r>
              <a:rPr lang="es-PA" dirty="0"/>
              <a:t>La joven comentó : “Esto es trivial, la seguridad es más importante</a:t>
            </a:r>
          </a:p>
          <a:p>
            <a:pPr lvl="1"/>
            <a:r>
              <a:rPr lang="es-PA" dirty="0"/>
              <a:t>Problema:  </a:t>
            </a:r>
          </a:p>
          <a:p>
            <a:pPr lvl="2"/>
            <a:r>
              <a:rPr lang="es-PA" dirty="0"/>
              <a:t>“Algoritmo de detección en tiempo real”, la persona estaba muy lejos</a:t>
            </a:r>
          </a:p>
          <a:p>
            <a:r>
              <a:rPr lang="es-PA" b="1" i="1" dirty="0"/>
              <a:t>09 - Vehículo Autónomo “Asesina” a Peatón</a:t>
            </a:r>
          </a:p>
          <a:p>
            <a:pPr lvl="1"/>
            <a:r>
              <a:rPr lang="es-PA" dirty="0"/>
              <a:t>Uber SDC</a:t>
            </a:r>
          </a:p>
          <a:p>
            <a:pPr lvl="1"/>
            <a:r>
              <a:rPr lang="es-PA" dirty="0"/>
              <a:t>Se detuvo por un tiempo las pruebas de los SDC (</a:t>
            </a:r>
            <a:r>
              <a:rPr lang="es-PA" dirty="0" err="1"/>
              <a:t>Nvidia</a:t>
            </a:r>
            <a:r>
              <a:rPr lang="es-PA" dirty="0"/>
              <a:t>, Toyota)</a:t>
            </a:r>
          </a:p>
          <a:p>
            <a:pPr lvl="1"/>
            <a:r>
              <a:rPr lang="es-PA" dirty="0"/>
              <a:t>Problema:</a:t>
            </a:r>
          </a:p>
          <a:p>
            <a:pPr lvl="2"/>
            <a:r>
              <a:rPr lang="es-PA" dirty="0"/>
              <a:t>No se detectó la persona</a:t>
            </a:r>
          </a:p>
          <a:p>
            <a:pPr lvl="2"/>
            <a:r>
              <a:rPr lang="es-PA" dirty="0"/>
              <a:t>El sistema de freno estaba desactivado</a:t>
            </a:r>
          </a:p>
          <a:p>
            <a:pPr lvl="2"/>
            <a:endParaRPr lang="es-PA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423213" y="6448069"/>
            <a:ext cx="2638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https://bit.ly/2BcMzpc</a:t>
            </a:r>
          </a:p>
        </p:txBody>
      </p:sp>
      <p:pic>
        <p:nvPicPr>
          <p:cNvPr id="2052" name="Picture 4" descr="https://miro.medium.com/max/790/1*KB8FQGj9EreUFCTILcHXd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677" y="1048128"/>
            <a:ext cx="2146411" cy="150520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miro.medium.com/max/950/0*UudADUv1ijmxOSw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976" y="4131997"/>
            <a:ext cx="2738210" cy="154204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329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682877" cy="1400530"/>
          </a:xfrm>
        </p:spPr>
        <p:txBody>
          <a:bodyPr/>
          <a:lstStyle/>
          <a:p>
            <a:r>
              <a:rPr lang="es-PA" dirty="0"/>
              <a:t>Top 10 Compañías con Fallos en uso con la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423213" y="6448069"/>
            <a:ext cx="2638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https://bit.ly/2BcMzpc</a:t>
            </a:r>
          </a:p>
        </p:txBody>
      </p:sp>
      <p:sp>
        <p:nvSpPr>
          <p:cNvPr id="8" name="Marcador de contenido 2"/>
          <p:cNvSpPr txBox="1">
            <a:spLocks/>
          </p:cNvSpPr>
          <p:nvPr/>
        </p:nvSpPr>
        <p:spPr>
          <a:xfrm>
            <a:off x="294658" y="2020052"/>
            <a:ext cx="10959535" cy="46184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PA" b="1" i="1" dirty="0"/>
              <a:t>08 – IBM Watson no hace buen trabajo en Ciencias de La Salud</a:t>
            </a:r>
          </a:p>
          <a:p>
            <a:pPr lvl="1"/>
            <a:r>
              <a:rPr lang="es-PA" dirty="0"/>
              <a:t>“Este Producto es un pedazo de m****” – Doctor en Florida </a:t>
            </a:r>
            <a:r>
              <a:rPr lang="es-PA" dirty="0" err="1"/>
              <a:t>Jupyter</a:t>
            </a:r>
            <a:r>
              <a:rPr lang="es-PA" dirty="0"/>
              <a:t> Hospital</a:t>
            </a:r>
          </a:p>
          <a:p>
            <a:pPr lvl="1"/>
            <a:r>
              <a:rPr lang="es-PA" dirty="0"/>
              <a:t>Sistema de </a:t>
            </a:r>
            <a:r>
              <a:rPr lang="es-PA" dirty="0" err="1"/>
              <a:t>Deteccion</a:t>
            </a:r>
            <a:r>
              <a:rPr lang="es-PA" dirty="0"/>
              <a:t> de </a:t>
            </a:r>
            <a:r>
              <a:rPr lang="es-PA" dirty="0" err="1"/>
              <a:t>Cancer</a:t>
            </a:r>
            <a:r>
              <a:rPr lang="es-PA" dirty="0"/>
              <a:t> en el 2013</a:t>
            </a:r>
          </a:p>
          <a:p>
            <a:pPr lvl="1"/>
            <a:r>
              <a:rPr lang="es-PA" dirty="0"/>
              <a:t>Problema</a:t>
            </a:r>
          </a:p>
          <a:p>
            <a:pPr lvl="2"/>
            <a:r>
              <a:rPr lang="es-PA" dirty="0"/>
              <a:t>Malas recomendaciones que pudieron dar mal tratamiento a pacientes e incluso la muerte</a:t>
            </a:r>
          </a:p>
          <a:p>
            <a:pPr lvl="2"/>
            <a:r>
              <a:rPr lang="es-PA" dirty="0" err="1"/>
              <a:t>Downsizing</a:t>
            </a:r>
            <a:r>
              <a:rPr lang="es-PA" dirty="0"/>
              <a:t> de Watson </a:t>
            </a:r>
            <a:r>
              <a:rPr lang="es-PA" dirty="0" err="1"/>
              <a:t>Health</a:t>
            </a:r>
            <a:endParaRPr lang="es-PA" dirty="0"/>
          </a:p>
          <a:p>
            <a:r>
              <a:rPr lang="es-PA" b="1" i="1" dirty="0"/>
              <a:t>07 – Herramienta de Reclutamiento de Amazon Estaba Parcializada a Género</a:t>
            </a:r>
          </a:p>
          <a:p>
            <a:pPr lvl="1"/>
            <a:r>
              <a:rPr lang="es-PA" dirty="0"/>
              <a:t>RRHH de Amazon 2014-2017</a:t>
            </a:r>
          </a:p>
          <a:p>
            <a:pPr lvl="1"/>
            <a:r>
              <a:rPr lang="es-PA" dirty="0"/>
              <a:t>Actualmente se usa</a:t>
            </a:r>
          </a:p>
          <a:p>
            <a:pPr lvl="2"/>
            <a:r>
              <a:rPr lang="es-PA" dirty="0"/>
              <a:t>Solo recomendaciones, no evaluación</a:t>
            </a:r>
          </a:p>
          <a:p>
            <a:pPr lvl="1"/>
            <a:r>
              <a:rPr lang="es-PA" dirty="0"/>
              <a:t>Sistema de Recomendación de Hojas de Vida</a:t>
            </a:r>
          </a:p>
          <a:p>
            <a:pPr lvl="1"/>
            <a:r>
              <a:rPr lang="es-PA" dirty="0"/>
              <a:t>Problema:  </a:t>
            </a:r>
          </a:p>
          <a:p>
            <a:pPr lvl="2"/>
            <a:r>
              <a:rPr lang="es-PA" dirty="0"/>
              <a:t>Estaba parcializado a reclutar hombres</a:t>
            </a:r>
          </a:p>
        </p:txBody>
      </p:sp>
      <p:pic>
        <p:nvPicPr>
          <p:cNvPr id="6146" name="Picture 2" descr="Image result for watson healt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138" y="1841173"/>
            <a:ext cx="2746375" cy="154483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result for amazon ai recruiting tool is gender bias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846" y="4845511"/>
            <a:ext cx="2857500" cy="1714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69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682877" cy="1400530"/>
          </a:xfrm>
        </p:spPr>
        <p:txBody>
          <a:bodyPr/>
          <a:lstStyle/>
          <a:p>
            <a:r>
              <a:rPr lang="es-PA" dirty="0"/>
              <a:t>Top 10 Compañías con Fallos en uso con la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423213" y="6448069"/>
            <a:ext cx="2638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https://bit.ly/2BcMzpc</a:t>
            </a:r>
          </a:p>
        </p:txBody>
      </p:sp>
      <p:sp>
        <p:nvSpPr>
          <p:cNvPr id="8" name="Marcador de contenido 2"/>
          <p:cNvSpPr txBox="1">
            <a:spLocks/>
          </p:cNvSpPr>
          <p:nvPr/>
        </p:nvSpPr>
        <p:spPr>
          <a:xfrm>
            <a:off x="294658" y="2020052"/>
            <a:ext cx="10959535" cy="4618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PA" b="1" i="1" dirty="0"/>
              <a:t>06 – </a:t>
            </a:r>
            <a:r>
              <a:rPr lang="es-PA" b="1" i="1" dirty="0" err="1"/>
              <a:t>DeepFakes</a:t>
            </a:r>
            <a:r>
              <a:rPr lang="es-PA" b="1" i="1" dirty="0"/>
              <a:t> Revela Un Lado Impropio de la IA</a:t>
            </a:r>
          </a:p>
          <a:p>
            <a:pPr lvl="1"/>
            <a:r>
              <a:rPr lang="es-PA" dirty="0"/>
              <a:t>Uso de </a:t>
            </a:r>
            <a:r>
              <a:rPr lang="es-PA" dirty="0" err="1"/>
              <a:t>Face</a:t>
            </a:r>
            <a:r>
              <a:rPr lang="es-PA" dirty="0"/>
              <a:t> </a:t>
            </a:r>
            <a:r>
              <a:rPr lang="es-PA" dirty="0" err="1"/>
              <a:t>Swapping</a:t>
            </a:r>
            <a:endParaRPr lang="es-PA" dirty="0"/>
          </a:p>
          <a:p>
            <a:pPr lvl="1"/>
            <a:r>
              <a:rPr lang="es-PA" dirty="0"/>
              <a:t>Casi real</a:t>
            </a:r>
          </a:p>
          <a:p>
            <a:pPr lvl="1"/>
            <a:r>
              <a:rPr lang="es-PA" dirty="0"/>
              <a:t>Problema:</a:t>
            </a:r>
          </a:p>
          <a:p>
            <a:pPr lvl="2"/>
            <a:r>
              <a:rPr lang="es-PA" dirty="0"/>
              <a:t>Utilizaba </a:t>
            </a:r>
            <a:r>
              <a:rPr lang="es-PA" dirty="0" err="1"/>
              <a:t>GANs</a:t>
            </a:r>
            <a:r>
              <a:rPr lang="es-PA" dirty="0"/>
              <a:t> para generar imágenes de celebridades sobre videos pornográficos</a:t>
            </a:r>
          </a:p>
          <a:p>
            <a:pPr lvl="2"/>
            <a:r>
              <a:rPr lang="es-PA" dirty="0"/>
              <a:t>Potencialmente dañino a la imagen de la persona</a:t>
            </a:r>
          </a:p>
          <a:p>
            <a:pPr lvl="2"/>
            <a:r>
              <a:rPr lang="es-PA" dirty="0"/>
              <a:t>Credibilidad del video (real o no)</a:t>
            </a:r>
          </a:p>
          <a:p>
            <a:r>
              <a:rPr lang="es-PA" b="1" i="1" dirty="0"/>
              <a:t>05 – Google </a:t>
            </a:r>
            <a:r>
              <a:rPr lang="es-PA" b="1" i="1" dirty="0" err="1"/>
              <a:t>Photos</a:t>
            </a:r>
            <a:r>
              <a:rPr lang="es-PA" b="1" i="1" dirty="0"/>
              <a:t> confunde Montañista con Montaña</a:t>
            </a:r>
          </a:p>
          <a:p>
            <a:pPr lvl="1"/>
            <a:r>
              <a:rPr lang="es-PA" dirty="0"/>
              <a:t>Une diferentes fotos y ofrece una foto panorámica</a:t>
            </a:r>
          </a:p>
          <a:p>
            <a:pPr lvl="1"/>
            <a:r>
              <a:rPr lang="es-PA" dirty="0"/>
              <a:t>Problema:  </a:t>
            </a:r>
          </a:p>
          <a:p>
            <a:pPr lvl="2"/>
            <a:r>
              <a:rPr lang="es-PA" dirty="0"/>
              <a:t>Al unir las 3 fotos de paisajes, mezcló a la persona como una gran montaña</a:t>
            </a:r>
            <a:endParaRPr lang="en-US" dirty="0"/>
          </a:p>
        </p:txBody>
      </p:sp>
      <p:pic>
        <p:nvPicPr>
          <p:cNvPr id="7170" name="Picture 2" descr="https://miro.medium.com/max/780/0*nJ7JC1N3y-nO6SY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746" y="1471084"/>
            <a:ext cx="3776447" cy="212546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miro.medium.com/max/950/0*t3Tx4HKlOg9vvRV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081" y="3967948"/>
            <a:ext cx="2555207" cy="210871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168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682877" cy="1400530"/>
          </a:xfrm>
        </p:spPr>
        <p:txBody>
          <a:bodyPr/>
          <a:lstStyle/>
          <a:p>
            <a:r>
              <a:rPr lang="es-PA" dirty="0"/>
              <a:t>Top 10 Compañías con Fallos en uso con la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423213" y="6448069"/>
            <a:ext cx="2638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https://bit.ly/2BcMzpc</a:t>
            </a:r>
          </a:p>
        </p:txBody>
      </p:sp>
      <p:sp>
        <p:nvSpPr>
          <p:cNvPr id="8" name="Marcador de contenido 2"/>
          <p:cNvSpPr txBox="1">
            <a:spLocks/>
          </p:cNvSpPr>
          <p:nvPr/>
        </p:nvSpPr>
        <p:spPr>
          <a:xfrm>
            <a:off x="294658" y="2020052"/>
            <a:ext cx="10959535" cy="4618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PA" b="1" i="1" dirty="0"/>
              <a:t>04 – Robot de LG, </a:t>
            </a:r>
            <a:r>
              <a:rPr lang="es-PA" b="1" i="1" dirty="0" err="1"/>
              <a:t>Cloi</a:t>
            </a:r>
            <a:r>
              <a:rPr lang="es-PA" b="1" i="1" dirty="0"/>
              <a:t>, se pone nervioso en </a:t>
            </a:r>
            <a:r>
              <a:rPr lang="es-PA" b="1" i="1"/>
              <a:t>su presentación</a:t>
            </a:r>
            <a:endParaRPr lang="en-US" b="1" dirty="0"/>
          </a:p>
          <a:p>
            <a:pPr lvl="1"/>
            <a:r>
              <a:rPr lang="es-PA" dirty="0"/>
              <a:t>Presentado por LG en el CES 2018</a:t>
            </a:r>
          </a:p>
          <a:p>
            <a:pPr lvl="1"/>
            <a:r>
              <a:rPr lang="es-PA" dirty="0"/>
              <a:t>Asistente de Tiempo Real en Casa, responde a comandos de voz</a:t>
            </a:r>
          </a:p>
          <a:p>
            <a:pPr lvl="1"/>
            <a:r>
              <a:rPr lang="es-PA" dirty="0"/>
              <a:t>Problema:</a:t>
            </a:r>
          </a:p>
          <a:p>
            <a:pPr lvl="2"/>
            <a:r>
              <a:rPr lang="es-PA" dirty="0"/>
              <a:t>Al presentarse en el escenario</a:t>
            </a:r>
          </a:p>
          <a:p>
            <a:pPr lvl="2"/>
            <a:r>
              <a:rPr lang="es-PA" dirty="0"/>
              <a:t>Comandos de voz no ejecutaban acciones</a:t>
            </a:r>
          </a:p>
          <a:p>
            <a:pPr lvl="2"/>
            <a:r>
              <a:rPr lang="es-PA" dirty="0"/>
              <a:t>Solo hacia silencio</a:t>
            </a:r>
          </a:p>
          <a:p>
            <a:r>
              <a:rPr lang="es-PA" b="1" i="1" dirty="0"/>
              <a:t>03 – Boston Dynamics Atlas </a:t>
            </a:r>
            <a:r>
              <a:rPr lang="es-PA" b="1" i="1" dirty="0" err="1"/>
              <a:t>Bloopers</a:t>
            </a:r>
            <a:endParaRPr lang="es-PA" b="1" i="1" dirty="0"/>
          </a:p>
          <a:p>
            <a:pPr lvl="1"/>
            <a:r>
              <a:rPr lang="es-PA" dirty="0" err="1"/>
              <a:t>Robotica</a:t>
            </a:r>
            <a:r>
              <a:rPr lang="es-PA" dirty="0"/>
              <a:t> y Control Avanzado</a:t>
            </a:r>
          </a:p>
          <a:p>
            <a:pPr lvl="1"/>
            <a:r>
              <a:rPr lang="es-PA" dirty="0"/>
              <a:t>Robot Atlas, Spot, </a:t>
            </a:r>
            <a:r>
              <a:rPr lang="es-PA" dirty="0" err="1"/>
              <a:t>SpotMini</a:t>
            </a:r>
            <a:r>
              <a:rPr lang="es-PA" dirty="0"/>
              <a:t>, </a:t>
            </a:r>
            <a:r>
              <a:rPr lang="es-PA" dirty="0" err="1"/>
              <a:t>Flea</a:t>
            </a:r>
            <a:r>
              <a:rPr lang="es-PA" dirty="0"/>
              <a:t>, etc.</a:t>
            </a:r>
          </a:p>
          <a:p>
            <a:pPr lvl="1"/>
            <a:r>
              <a:rPr lang="es-PA" dirty="0"/>
              <a:t>Problema:</a:t>
            </a:r>
          </a:p>
          <a:p>
            <a:pPr lvl="2"/>
            <a:r>
              <a:rPr lang="es-PA" dirty="0"/>
              <a:t>Atlas no pudo hacer el demo de levantar la caja en su debut en el congreso de ciencia</a:t>
            </a:r>
          </a:p>
        </p:txBody>
      </p:sp>
      <p:pic>
        <p:nvPicPr>
          <p:cNvPr id="9218" name="Picture 2" descr="Image result for LG CLO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858" y="1462360"/>
            <a:ext cx="2930962" cy="19570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miro.medium.com/max/920/0*mGZ4jFrCN2sZcc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749" y="4100455"/>
            <a:ext cx="2501180" cy="166654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596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682877" cy="1400530"/>
          </a:xfrm>
        </p:spPr>
        <p:txBody>
          <a:bodyPr/>
          <a:lstStyle/>
          <a:p>
            <a:r>
              <a:rPr lang="es-PA" dirty="0"/>
              <a:t>Top 10 Compañías con Fallos en uso con la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423213" y="6448069"/>
            <a:ext cx="2638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https://bit.ly/2BcMzpc</a:t>
            </a:r>
          </a:p>
        </p:txBody>
      </p:sp>
      <p:sp>
        <p:nvSpPr>
          <p:cNvPr id="8" name="Marcador de contenido 2"/>
          <p:cNvSpPr txBox="1">
            <a:spLocks/>
          </p:cNvSpPr>
          <p:nvPr/>
        </p:nvSpPr>
        <p:spPr>
          <a:xfrm>
            <a:off x="294658" y="2020052"/>
            <a:ext cx="10959535" cy="4618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PA" b="1" i="1" dirty="0"/>
              <a:t>02 – Predicciones de la Copa Mundial 2018 con Malas Predicciones</a:t>
            </a:r>
          </a:p>
          <a:p>
            <a:pPr lvl="1"/>
            <a:r>
              <a:rPr lang="es-PA" dirty="0"/>
              <a:t>Sistema de predicción de ganadores por partido</a:t>
            </a:r>
          </a:p>
          <a:p>
            <a:pPr lvl="1"/>
            <a:r>
              <a:rPr lang="es-PA" dirty="0"/>
              <a:t>EA, Goldman Sachs, </a:t>
            </a:r>
            <a:r>
              <a:rPr lang="es-PA" dirty="0" err="1"/>
              <a:t>University</a:t>
            </a:r>
            <a:r>
              <a:rPr lang="es-PA" dirty="0"/>
              <a:t> of Dortmund y otras</a:t>
            </a:r>
          </a:p>
          <a:p>
            <a:pPr lvl="1"/>
            <a:r>
              <a:rPr lang="es-PA" dirty="0"/>
              <a:t>Problema:</a:t>
            </a:r>
          </a:p>
          <a:p>
            <a:pPr lvl="2"/>
            <a:r>
              <a:rPr lang="es-PA" dirty="0"/>
              <a:t>Todos estaban errados</a:t>
            </a:r>
          </a:p>
          <a:p>
            <a:pPr lvl="2"/>
            <a:r>
              <a:rPr lang="es-PA" dirty="0"/>
              <a:t>Solo EA con FIFA 18 usando sus ratings predijo a Francia ganador</a:t>
            </a:r>
          </a:p>
          <a:p>
            <a:r>
              <a:rPr lang="es-PA" b="1" i="1" dirty="0"/>
              <a:t>01 – </a:t>
            </a:r>
            <a:r>
              <a:rPr lang="es-PA" b="1" i="1" dirty="0" err="1"/>
              <a:t>Startup</a:t>
            </a:r>
            <a:r>
              <a:rPr lang="es-PA" b="1" i="1" dirty="0"/>
              <a:t> Intenta Predecir el IQ con Marcas Faciales y Caras</a:t>
            </a:r>
          </a:p>
          <a:p>
            <a:pPr lvl="1"/>
            <a:r>
              <a:rPr lang="es-PA" dirty="0"/>
              <a:t>Compañía Israelí </a:t>
            </a:r>
            <a:r>
              <a:rPr lang="es-PA" dirty="0" err="1"/>
              <a:t>Faception</a:t>
            </a:r>
            <a:endParaRPr lang="es-PA" dirty="0"/>
          </a:p>
          <a:p>
            <a:pPr lvl="1"/>
            <a:r>
              <a:rPr lang="es-PA" dirty="0"/>
              <a:t>Intentaba predecir IQ, personalidad y rasgos de violencia</a:t>
            </a:r>
          </a:p>
          <a:p>
            <a:pPr lvl="2"/>
            <a:r>
              <a:rPr lang="es-PA" dirty="0"/>
              <a:t>Usando IA, análisis facial y estructura </a:t>
            </a:r>
            <a:r>
              <a:rPr lang="es-PA" dirty="0" err="1"/>
              <a:t>osea</a:t>
            </a:r>
            <a:endParaRPr lang="es-PA" dirty="0"/>
          </a:p>
          <a:p>
            <a:pPr lvl="1"/>
            <a:r>
              <a:rPr lang="es-PA" dirty="0"/>
              <a:t>Problema:</a:t>
            </a:r>
          </a:p>
          <a:p>
            <a:pPr lvl="2"/>
            <a:r>
              <a:rPr lang="es-PA" dirty="0"/>
              <a:t>Hacia que el sistema de IA se comportara como un sistema racista</a:t>
            </a:r>
          </a:p>
        </p:txBody>
      </p:sp>
      <p:pic>
        <p:nvPicPr>
          <p:cNvPr id="11266" name="Picture 2" descr="https://miro.medium.com/max/950/0*a1vhhapD63PuO_V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695" y="2409805"/>
            <a:ext cx="3233287" cy="18242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https://miro.medium.com/max/950/0*gJD1XowX5GNaLs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695" y="4581847"/>
            <a:ext cx="3689933" cy="178282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252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682877" cy="1400530"/>
          </a:xfrm>
        </p:spPr>
        <p:txBody>
          <a:bodyPr/>
          <a:lstStyle/>
          <a:p>
            <a:r>
              <a:rPr lang="es-PA" dirty="0"/>
              <a:t>Siguiente Clase – Laboratorio 1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2651" y="2034257"/>
            <a:ext cx="10419994" cy="4618470"/>
          </a:xfrm>
        </p:spPr>
        <p:txBody>
          <a:bodyPr>
            <a:normAutofit/>
          </a:bodyPr>
          <a:lstStyle/>
          <a:p>
            <a:r>
              <a:rPr lang="es-PA" dirty="0"/>
              <a:t>Trabajar con Python</a:t>
            </a:r>
          </a:p>
          <a:p>
            <a:r>
              <a:rPr lang="es-PA" dirty="0"/>
              <a:t>Si estamos trabajando con Windows…</a:t>
            </a:r>
          </a:p>
          <a:p>
            <a:pPr lvl="1"/>
            <a:r>
              <a:rPr lang="es-PA" dirty="0"/>
              <a:t>Instalar Anaconda</a:t>
            </a:r>
          </a:p>
          <a:p>
            <a:pPr lvl="1"/>
            <a:r>
              <a:rPr lang="es-PA" dirty="0"/>
              <a:t>Crear un ambiente virtual</a:t>
            </a:r>
          </a:p>
          <a:p>
            <a:pPr lvl="1"/>
            <a:r>
              <a:rPr lang="es-PA" dirty="0"/>
              <a:t>Lanzar </a:t>
            </a:r>
            <a:r>
              <a:rPr lang="es-PA" dirty="0" err="1"/>
              <a:t>Jupyter</a:t>
            </a:r>
            <a:r>
              <a:rPr lang="es-PA" dirty="0"/>
              <a:t> Notebook</a:t>
            </a:r>
          </a:p>
          <a:p>
            <a:pPr lvl="1"/>
            <a:r>
              <a:rPr lang="es-PA" dirty="0"/>
              <a:t>Realizar algunas acciones básicas con </a:t>
            </a:r>
            <a:r>
              <a:rPr lang="es-PA" dirty="0" err="1"/>
              <a:t>Jupyter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423213" y="6448069"/>
            <a:ext cx="2638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https://bit.ly/2BcMzpc</a:t>
            </a:r>
          </a:p>
        </p:txBody>
      </p:sp>
    </p:spTree>
    <p:extLst>
      <p:ext uri="{BB962C8B-B14F-4D97-AF65-F5344CB8AC3E}">
        <p14:creationId xmlns:p14="http://schemas.microsoft.com/office/powerpoint/2010/main" val="2930158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72520" y="532028"/>
            <a:ext cx="6531428" cy="14927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PA" sz="7200" b="1" i="1" dirty="0"/>
              <a:t>FINAL DÍA 1</a:t>
            </a:r>
          </a:p>
          <a:p>
            <a:pPr lvl="2"/>
            <a:endParaRPr lang="es-PA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423213" y="6448069"/>
            <a:ext cx="26388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https://bit.ly/2BcMzpc</a:t>
            </a:r>
          </a:p>
        </p:txBody>
      </p:sp>
      <p:pic>
        <p:nvPicPr>
          <p:cNvPr id="4100" name="Picture 4" descr="Image result for peter norvig quo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656" y="2024743"/>
            <a:ext cx="7112972" cy="40288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40934306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18242</TotalTime>
  <Words>1348</Words>
  <Application>Microsoft Office PowerPoint</Application>
  <PresentationFormat>Widescreen</PresentationFormat>
  <Paragraphs>180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INTELIGENCIA ARTIFICIAL</vt:lpstr>
      <vt:lpstr>Formato del Curso</vt:lpstr>
      <vt:lpstr>Reglas del Curso</vt:lpstr>
      <vt:lpstr>Reglas del Curso</vt:lpstr>
      <vt:lpstr>Reglas del Curso</vt:lpstr>
      <vt:lpstr>Reglas del Curso</vt:lpstr>
      <vt:lpstr>Objetivos</vt:lpstr>
      <vt:lpstr>División de Porcentajes</vt:lpstr>
      <vt:lpstr>Proyecto Final – Construir un Sistema de Inteligencia Artificial</vt:lpstr>
      <vt:lpstr>Introducción</vt:lpstr>
      <vt:lpstr>Top 10 Compañías con Fallos en uso con la IA</vt:lpstr>
      <vt:lpstr>Top 10 Compañías con Fallos en uso con la IA</vt:lpstr>
      <vt:lpstr>Top 10 Compañías con Fallos en uso con la IA</vt:lpstr>
      <vt:lpstr>Top 10 Compañías con Fallos en uso con la IA</vt:lpstr>
      <vt:lpstr>Top 10 Compañías con Fallos en uso con la IA</vt:lpstr>
      <vt:lpstr>Siguiente Clase – Laboratorio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MICROELECTRÓNICA</dc:title>
  <dc:creator>Isaias</dc:creator>
  <cp:lastModifiedBy>Denys</cp:lastModifiedBy>
  <cp:revision>766</cp:revision>
  <dcterms:created xsi:type="dcterms:W3CDTF">2018-02-28T08:20:25Z</dcterms:created>
  <dcterms:modified xsi:type="dcterms:W3CDTF">2025-10-04T12:32:45Z</dcterms:modified>
</cp:coreProperties>
</file>